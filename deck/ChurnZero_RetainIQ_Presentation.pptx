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RetainIQ — Who to call, and what it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Hansraj Tiwari &amp; swayangjeet nayak</a:t>
            </a:r>
          </a:p>
          <a:p>
            <a:pPr>
              <a:defRPr sz="1800"/>
            </a:pPr>
            <a:r>
              <a:t>ChurnZero 26 · IIT Kharagpur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80:1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Missed churner (FN): ₹40,000</a:t>
            </a:r>
          </a:p>
          <a:p>
            <a:pPr>
              <a:defRPr sz="1800"/>
            </a:pPr>
            <a:r>
              <a:t>Unnecessary call (FP): ₹500</a:t>
            </a:r>
          </a:p>
          <a:p>
            <a:pPr>
              <a:defRPr sz="1800"/>
            </a:pPr>
            <a:r>
              <a:t>Cost ratio 80:1 — threshold 0.5 is wrong for this problem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8,101 train · 97 features · 16.1% churn</a:t>
            </a:r>
          </a:p>
          <a:p>
            <a:pPr>
              <a:defRPr sz="1800"/>
            </a:pPr>
            <a:r>
              <a:t>2,026 test customers · submission 16.6% positive</a:t>
            </a:r>
          </a:p>
          <a:p>
            <a:pPr>
              <a:defRPr sz="1800"/>
            </a:pPr>
            <a:r>
              <a:t>Inactivity and balance stress separate churners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churn concentrates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Higher churn: low tenure, low digital engagement, complaints</a:t>
            </a:r>
          </a:p>
          <a:p>
            <a:pPr>
              <a:defRPr sz="1800"/>
            </a:pPr>
            <a:r>
              <a:t>Lower churn: stable tenure + active digital footprint</a:t>
            </a:r>
          </a:p>
          <a:p>
            <a:pPr>
              <a:defRPr sz="1800"/>
            </a:pPr>
            <a:r>
              <a:t>Segments guide playbook priority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RetainIQ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LGB + CatBoost OOF → meta on OOF → Platt calibration</a:t>
            </a:r>
          </a:p>
          <a:p>
            <a:pPr>
              <a:defRPr sz="1800"/>
            </a:pPr>
            <a:r>
              <a:t>Rank → churn_probability; calibrated + cost → churn_prediction</a:t>
            </a:r>
          </a:p>
          <a:p>
            <a:pPr>
              <a:defRPr sz="1800"/>
            </a:pPr>
            <a:r>
              <a:t>IPTW uplift · fairness (gender, region)</a:t>
            </a:r>
          </a:p>
          <a:p>
            <a:pPr>
              <a:defRPr sz="1800"/>
            </a:pPr>
            <a:r>
              <a:t>Validated: pytest + CAUSAL_FIXES audit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journey (PR-AUC saturated)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Logistic → LGB → stack → calibrated: PR-AUC ≈ 0.99</a:t>
            </a:r>
          </a:p>
          <a:p>
            <a:pPr>
              <a:defRPr sz="1800"/>
            </a:pPr>
            <a:r>
              <a:t>AUC gains are flat on this dataset</a:t>
            </a:r>
          </a:p>
          <a:p>
            <a:pPr>
              <a:defRPr sz="1800"/>
            </a:pPr>
            <a:r>
              <a:t>We win on the decision layer: threshold + uplift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Out-of-fold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5-fold OOF · seed 42 · primary metric: PR-AUC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34440"/>
          <a:ext cx="105156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320040">
                <a:tc>
                  <a:txBody>
                    <a:bodyPr/>
                    <a:lstStyle/>
                    <a:p>
                      <a:pPr>
                        <a:defRPr b="1" sz="14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t = 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t = 0.5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PR-AUC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0.9999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0.9999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Business cost (INR)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65,000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202,500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99.9%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99.6%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Same model, different cutoff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Cost-optimal threshold 0.002 vs naive 0.5</a:t>
            </a:r>
          </a:p>
          <a:p>
            <a:pPr>
              <a:defRPr sz="1600"/>
            </a:pPr>
            <a:r>
              <a:t>₹137,500 saved on 8,101 customers (~68%)</a:t>
            </a:r>
          </a:p>
        </p:txBody>
      </p:sp>
      <p:pic>
        <p:nvPicPr>
          <p:cNvPr id="4" name="Picture 3" descr="08_cost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0972800" cy="675303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drives churn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Actionable: logins, complaints, campaigns, RM touches</a:t>
            </a:r>
          </a:p>
          <a:p>
            <a:pPr>
              <a:defRPr sz="1600"/>
            </a:pPr>
            <a:r>
              <a:t>Structural: tenure (monitor only)</a:t>
            </a:r>
          </a:p>
          <a:p>
            <a:pPr>
              <a:defRPr sz="1600"/>
            </a:pPr>
            <a:r>
              <a:t>Top: total_digital_logins (~30% LGB gain)</a:t>
            </a:r>
          </a:p>
        </p:txBody>
      </p:sp>
      <p:pic>
        <p:nvPicPr>
          <p:cNvPr id="4" name="Picture 3" descr="09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0972800" cy="602364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Who is worth calling?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6 persuadables — offer helps (CATE +0.40 avg)</a:t>
            </a:r>
          </a:p>
          <a:p>
            <a:pPr>
              <a:defRPr sz="1600"/>
            </a:pPr>
            <a:r>
              <a:t>90 sleeping-dogs — offer may hurt (CATE -0.30 avg)</a:t>
            </a:r>
          </a:p>
          <a:p>
            <a:pPr>
              <a:defRPr sz="1600"/>
            </a:pPr>
            <a:r>
              <a:t>Offers not randomized — IPTW; directional only</a:t>
            </a:r>
          </a:p>
        </p:txBody>
      </p:sp>
      <p:pic>
        <p:nvPicPr>
          <p:cNvPr id="4" name="Picture 3" descr="10_uplift_quadr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0972800" cy="771851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Case study — persuadable segment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Customer 138223 · segment: persuadable</a:t>
            </a:r>
          </a:p>
          <a:p>
            <a:pPr>
              <a:defRPr sz="1800"/>
            </a:pPr>
            <a:r>
              <a:t>P(churn) = 0.001 · CATE = +0.953</a:t>
            </a:r>
          </a:p>
          <a:p>
            <a:pPr>
              <a:defRPr sz="1800"/>
            </a:pPr>
            <a:r>
              <a:t>Uplift CATE = +0.953: offer strongly associated with staying for this profile.</a:t>
            </a:r>
          </a:p>
          <a:p>
            <a:pPr>
              <a:defRPr sz="1800"/>
            </a:pPr>
            <a:r>
              <a:t>Portfolio churn score = 0.001; segment = persuadable (offer helps).</a:t>
            </a:r>
          </a:p>
          <a:p>
            <a:pPr>
              <a:defRPr sz="1800"/>
            </a:pPr>
            <a:r>
              <a:t>Actions: targeted RM call, resolve complaints, timed waiver—not mass campaigns.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Fairness at operating threshold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Gender DP gap: 3.1% · Region: 1.7% (limit 10%)</a:t>
            </a:r>
          </a:p>
          <a:p>
            <a:pPr>
              <a:defRPr sz="1600"/>
            </a:pPr>
            <a:r>
              <a:t>Equal opportunity gaps ≈ 0</a:t>
            </a:r>
          </a:p>
        </p:txBody>
      </p:sp>
      <p:pic>
        <p:nvPicPr>
          <p:cNvPr id="4" name="Picture 3" descr="12_fai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0972800" cy="556529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Monday-morning playbook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Persuadable → RM call + waiver</a:t>
            </a:r>
          </a:p>
          <a:p>
            <a:pPr>
              <a:defRPr sz="1800"/>
            </a:pPr>
            <a:r>
              <a:t>Sleeping-dog → no promotional contact</a:t>
            </a:r>
          </a:p>
          <a:p>
            <a:pPr>
              <a:defRPr sz="1800"/>
            </a:pPr>
            <a:r>
              <a:t>Lost-cause / sure-thing → low-touch or cross-sell</a:t>
            </a:r>
          </a:p>
          <a:p>
            <a:pPr>
              <a:defRPr sz="1800"/>
            </a:pPr>
            <a:r>
              <a:t>ROI: ₹137.5k saved (~₹17/customer)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Production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Weekly CRM scores · quarterly retrain · PSI on drivers</a:t>
            </a:r>
          </a:p>
          <a:p>
            <a:pPr>
              <a:defRPr sz="1800"/>
            </a:pPr>
            <a:r>
              <a:t>python -m scripts.train · 58 pytest tests + CI</a:t>
            </a:r>
          </a:p>
          <a:p>
            <a:pPr>
              <a:defRPr sz="1800"/>
            </a:pPr>
            <a:r>
              <a:t>Limits: observational uplift, saturated AUC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RetainIQ — 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Questions?</a:t>
            </a:r>
          </a:p>
          <a:p>
            <a:pPr>
              <a:defRPr sz="1800"/>
            </a:pPr>
            <a:r>
              <a:t>github.com/Stormynubee/retainiq-churnzero-26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